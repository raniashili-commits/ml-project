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6F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32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Slight Injury</c:v>
                  </c:pt>
                  <c:pt idx="1">
                    <c:v>Serious Injury</c:v>
                  </c:pt>
                  <c:pt idx="2">
                    <c:v>Fatal Injury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2510</c:v>
                </c:pt>
                <c:pt idx="1">
                  <c:v>439</c:v>
                </c:pt>
                <c:pt idx="2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9436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 la Gravité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Accidents de la Route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 End-to-End  ·  RTA Dataset — Addis Abeba, Éthiopie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3154680"/>
            <a:ext cx="292608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337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[Votre Nom]</a:t>
            </a:r>
            <a:pPr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Encadrant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Abdallah Khemais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Problématique &amp; Dataset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371600"/>
          </a:xfrm>
          <a:prstGeom prst="rect">
            <a:avLst/>
          </a:prstGeom>
          <a:solidFill>
            <a:srgbClr val="D6EAF8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Question posée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prédire automatiquement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gravité d'un accident de la route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des circonstances observées 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04288"/>
            <a:ext cx="420624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3591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Tâche 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0662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multiclasse supervisée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Accident_severity (3 classes)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8046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RTA Dataset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206240" cy="25146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/ UCI ML Repository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12 181 enregistrements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de travail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 lignes (shufflé)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 × 32 colonnes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numériques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(véhicules, victimes)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catégorielles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Accident_severity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74320" y="3703320"/>
            <a:ext cx="274320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4320" y="37033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Injury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54680" y="3703320"/>
            <a:ext cx="2743200" cy="56692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154680" y="37033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Injury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3703320"/>
            <a:ext cx="2743200" cy="566928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035040" y="37033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Injury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Analyse Exploratoire — Faits clés du Dataset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743200" cy="1417320"/>
          </a:xfrm>
          <a:prstGeom prst="rect">
            <a:avLst/>
          </a:prstGeom>
          <a:solidFill>
            <a:srgbClr val="D6EAF8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colonnes avec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163824" y="777240"/>
            <a:ext cx="2743200" cy="1417320"/>
          </a:xfrm>
          <a:prstGeom prst="rect">
            <a:avLst/>
          </a:prstGeom>
          <a:solidFill>
            <a:srgbClr val="D6EAF8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27832" y="822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de NaN sur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Defect_of_vehicle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27832" y="1261872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34,6%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071616" y="777240"/>
            <a:ext cx="2743200" cy="1417320"/>
          </a:xfrm>
          <a:prstGeom prst="rect">
            <a:avLst/>
          </a:prstGeom>
          <a:solidFill>
            <a:srgbClr val="D6EAF8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35624" y="822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lignes × 32 col.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shuffle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35624" y="1261872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" y="2377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les plus touchées 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" y="2743200"/>
            <a:ext cx="4754880" cy="384048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7614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Defect_of_vehicle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54680" y="27614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1 039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77640" y="27614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34,6%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154680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172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Service_year_of_vehicle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54680" y="31729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77640" y="31729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32,1%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566160"/>
            <a:ext cx="4754880" cy="384048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584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Work_of_casuality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54680" y="35844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788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977640" y="35844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26,3%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977640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995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Fitness_of_casuality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54680" y="39959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77640" y="39959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389120"/>
            <a:ext cx="4754880" cy="384048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4074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Type_of_vehicle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54680" y="440740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977640" y="440740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4773168"/>
            <a:ext cx="4754880" cy="256032"/>
          </a:xfrm>
          <a:prstGeom prst="rect">
            <a:avLst/>
          </a:prstGeom>
          <a:solidFill>
            <a:srgbClr val="FDFEFE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7823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Imputées dans le pipeline (médiane/mode) — aucune ligne supprimée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le plus fréquent 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66360" y="2743200"/>
            <a:ext cx="365760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276148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conducteur  :  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86600" y="2761488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Homme (92,8%)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66360" y="3090672"/>
            <a:ext cx="3657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3108960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d'âge  :  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86600" y="3108960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18–30 ans (35,3%)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66360" y="3438144"/>
            <a:ext cx="365760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57800" y="3456432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 :  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86600" y="3456432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ans (26,1%)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166360" y="3785616"/>
            <a:ext cx="3657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3803904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  :  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086600" y="3803904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(26,2%)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166360" y="4133088"/>
            <a:ext cx="365760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7800" y="4151376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 :  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86600" y="4151376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 (16,9%)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166360" y="4480560"/>
            <a:ext cx="3657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57800" y="449884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principale  :  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086600" y="4498848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distancing (19,1%)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Déséquilibre des Classes &amp; Choix des Métriques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réelle (n=3 000)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43000"/>
          <a:ext cx="4389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657600"/>
            <a:ext cx="1389888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657600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83,7%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55648" y="3657600"/>
            <a:ext cx="1389888" cy="53035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55648" y="3657600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36976" y="3657600"/>
            <a:ext cx="1389888" cy="530352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36976" y="3657600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92040" y="777240"/>
            <a:ext cx="3977640" cy="4279392"/>
          </a:xfrm>
          <a:prstGeom prst="rect">
            <a:avLst/>
          </a:prstGeom>
          <a:solidFill>
            <a:srgbClr val="FDFEFE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0" y="822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l'Accuracy seule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insuffisante 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0" y="1508760"/>
            <a:ext cx="3749040" cy="566928"/>
          </a:xfrm>
          <a:prstGeom prst="rect">
            <a:avLst/>
          </a:prstGeom>
          <a:solidFill>
            <a:srgbClr val="FADBD8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15087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naïf qui prédit TOUJOURS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"Slight Injury" = 83,7% d'Accuracy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22128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Sans rien apprendre, sans détecter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accident grave ou fatal.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utilisées :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0" y="3200400"/>
            <a:ext cx="3749040" cy="320040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0" y="3218688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55080" y="3218688"/>
            <a:ext cx="2331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 — équilibre Précision/Rappel sur toutes classes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029200" y="3547872"/>
            <a:ext cx="3749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20640" y="3566160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55080" y="3566160"/>
            <a:ext cx="2331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on prédit Fatal, a-t-on raison ?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029200" y="3895344"/>
            <a:ext cx="374904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3913632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355080" y="3913632"/>
            <a:ext cx="2331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tous les accidents fatals, combien détectés ?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029200" y="4242816"/>
            <a:ext cx="3749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20640" y="4261104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355080" y="4261104"/>
            <a:ext cx="2331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globale, indépendante du seuil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029200" y="4590288"/>
            <a:ext cx="374904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20640" y="4608576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355080" y="4608576"/>
            <a:ext cx="2331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Fournie pour référence uniquement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Pipeline de Prétraitement sklearn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709928" y="1783080"/>
            <a:ext cx="256032" cy="731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77240"/>
            <a:ext cx="1508760" cy="3017520"/>
          </a:xfrm>
          <a:prstGeom prst="rect">
            <a:avLst/>
          </a:prstGeom>
          <a:solidFill>
            <a:srgbClr val="0D2E5E"/>
          </a:solidFill>
          <a:ln w="12700">
            <a:solidFill>
              <a:srgbClr val="0D2E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" y="8046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" y="1234440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12 181 lignes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" y="1920240"/>
            <a:ext cx="1298448" cy="3657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2011680"/>
            <a:ext cx="1508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3 000 lignes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0" y="1783080"/>
            <a:ext cx="256032" cy="731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777240"/>
            <a:ext cx="1508760" cy="30175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8046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65960" y="1234440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75688" y="1920240"/>
            <a:ext cx="1298448" cy="3657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2011680"/>
            <a:ext cx="1508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(num.)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(cat.)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suppression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39512" y="1783080"/>
            <a:ext cx="256032" cy="731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0752" y="777240"/>
            <a:ext cx="1508760" cy="30175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30752" y="8046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30752" y="1234440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1920240"/>
            <a:ext cx="1298448" cy="3657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2011680"/>
            <a:ext cx="1508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OrdinalEncoder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(catégorielles)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(y)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04304" y="1783080"/>
            <a:ext cx="256032" cy="731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5544" y="777240"/>
            <a:ext cx="1508760" cy="3017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95544" y="8046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95544" y="1234440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05272" y="1920240"/>
            <a:ext cx="1298448" cy="3657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2011680"/>
            <a:ext cx="1508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(numériques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60336" y="777240"/>
            <a:ext cx="1508760" cy="30175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60336" y="8046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60336" y="1234440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70064" y="1920240"/>
            <a:ext cx="1298448" cy="3657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2011680"/>
            <a:ext cx="1508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Stratifié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classe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1168" y="4005072"/>
            <a:ext cx="8732520" cy="658368"/>
          </a:xfrm>
          <a:prstGeom prst="rect">
            <a:avLst/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4164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class_weight='balanced' activé sur tous les modèles — compense automatiquement le ratio Slight(83,7%) / Fatal(1,7%) sans altérer le dataset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Modélisation — 3 Algorithmes Comparés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2743200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2161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linéaire de référence. Sert de baseline pour évaluer l'apport des modèles non-linéaires.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3127248"/>
            <a:ext cx="1188720" cy="502920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1272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Rapide · Interprétable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bien avec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features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73352" y="3127248"/>
            <a:ext cx="1188720" cy="502920"/>
          </a:xfrm>
          <a:prstGeom prst="rect">
            <a:avLst/>
          </a:prstGeom>
          <a:solidFill>
            <a:srgbClr val="FADBD8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31272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Limité aux frontières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linéaires — insuffisant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relations complexes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749808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749808"/>
            <a:ext cx="2743200" cy="960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154680" y="12161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148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non-linéaire, interprétable visuellement. Partitionne l'espace de données en règles imbriquées.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3127248"/>
            <a:ext cx="1188720" cy="502920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1272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Visuel · Interprétable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catégorielles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nativement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99432" y="3127248"/>
            <a:ext cx="1188720" cy="502920"/>
          </a:xfrm>
          <a:prstGeom prst="rect">
            <a:avLst/>
          </a:prstGeom>
          <a:solidFill>
            <a:srgbClr val="FADBD8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1272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Tendance à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l'overfitting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régularisation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80760" y="749808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749808"/>
            <a:ext cx="2743200" cy="960120"/>
          </a:xfrm>
          <a:prstGeom prst="rect">
            <a:avLst/>
          </a:prstGeom>
          <a:solidFill>
            <a:srgbClr val="0A5C36"/>
          </a:solidFill>
          <a:ln w="12700">
            <a:solidFill>
              <a:srgbClr val="0A5C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80760" y="12161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48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Agrège 100 arbres de décision indépendants par bagging. Réduit la variance sans augmenter le biais.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3127248"/>
            <a:ext cx="1188720" cy="502920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1272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Robuste · Stable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compromis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biais-variance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525512" y="3127248"/>
            <a:ext cx="1188720" cy="502920"/>
          </a:xfrm>
          <a:prstGeom prst="rect">
            <a:avLst/>
          </a:prstGeom>
          <a:solidFill>
            <a:srgbClr val="FADBD8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25512" y="31272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Moins interprétable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l'arbre seul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56032" y="49194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 : StratifiedKFold (5 folds)  ·  Scoring : F1-macro  ·  class_weight='balanced'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Résultats &amp; Optimisation par GridSearchCV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 des modèles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43000"/>
          <a:ext cx="5120640" cy="1920240"/>
        </p:xfrm>
        <a:graphic>
          <a:graphicData uri="http://schemas.openxmlformats.org/drawingml/2006/table">
            <a:tbl>
              <a:tblPr/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F1-macro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+ GridSearch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3154680"/>
            <a:ext cx="51206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31821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GridSearchCV — scoring sur F1-macro (pas Accuracy)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combinaisons × 5 folds = 270 fits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56032" y="38221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d'hyperparamètres 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" y="4187952"/>
            <a:ext cx="5120640" cy="201168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4206240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94560" y="4206240"/>
            <a:ext cx="3063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[50, 100, 150]  →  nombre d'arbres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6032" y="4416552"/>
            <a:ext cx="5120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4434840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194560" y="4434840"/>
            <a:ext cx="3063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[None, 8, 12]   →  profondeur max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" y="4645152"/>
            <a:ext cx="5120640" cy="201168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4663440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194560" y="4663440"/>
            <a:ext cx="3063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10]       →  régularisation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56032" y="4873752"/>
            <a:ext cx="5120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4892040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194560" y="4892040"/>
            <a:ext cx="3063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['sqrt','log2']  →  diversité des arbres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77840" y="749808"/>
            <a:ext cx="3291840" cy="4370832"/>
          </a:xfrm>
          <a:prstGeom prst="rect">
            <a:avLst/>
          </a:prstGeom>
          <a:solidFill>
            <a:srgbClr val="0A1628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15000" y="80467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Résumé Final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715000" y="1298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final  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15200" y="12984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715000" y="17282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 :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315200" y="172821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715000" y="21579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 :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315200" y="215798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715000" y="25877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: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315200" y="25877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715000" y="3017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 :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315200" y="30175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715000" y="34472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Recall-macro  :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315200" y="344728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715000" y="38770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 :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315200" y="38770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Conclusion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4114800" cy="1965960"/>
          </a:xfrm>
          <a:prstGeom prst="rect">
            <a:avLst/>
          </a:prstGeom>
          <a:solidFill>
            <a:srgbClr val="0D2137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Points clés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" y="1298448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Shuffle sur 12 181 lignes → échantillon representatif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2064" y="1581912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16 colonnes avec NaN → imputées, jamais supprimées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12064" y="1865376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Accuracy insuffisante seule → F1-macro, Recall, AUC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12064" y="2148840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class_weight='balanced' pour Fatal Injury (1,7%)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2064" y="2432304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GridSearchCV exhaustif → 270 fits, scoring F1-macro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14800" cy="1965960"/>
          </a:xfrm>
          <a:prstGeom prst="rect">
            <a:avLst/>
          </a:prstGeom>
          <a:solidFill>
            <a:srgbClr val="0D2137"/>
          </a:solidFill>
          <a:ln w="12700">
            <a:solidFill>
              <a:srgbClr val="CA6F1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Limites identifiées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298448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Fatal Injury = 1,7% → recall très faible sur cette classe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28032" y="1581912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Dataset limité à Addis Abeba — généralisation incertaine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28032" y="1865376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Seulement 2 variables numériques sur 32 features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28032" y="2148840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 de données GPS, vitesse, météo précise en temps réel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926080"/>
            <a:ext cx="4114800" cy="19659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" y="3017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Perspectives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" y="3401568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SMOTE pour enrichir la classe Fatal Injury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2064" y="3685032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XGBoost / LightGBM pour données tabulaires déséquilibrées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2064" y="3968496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Déploiement Streamlit — déjà intégré (app.py)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114800" cy="1965960"/>
          </a:xfrm>
          <a:prstGeom prst="rect">
            <a:avLst/>
          </a:prstGeom>
          <a:solidFill>
            <a:srgbClr val="0D2137"/>
          </a:solidFill>
          <a:ln w="12700">
            <a:solidFill>
              <a:srgbClr val="D4AC0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3017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Apprentissages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3401568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L'accuracy seule donne une fausse impression de performance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28032" y="3685032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Imputer vaut mieux que supprimer — on conserve l'information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28032" y="3968496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GridSearch garantit l'optimum sur la grille choisie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RTA — Prediction Gravite Accidents</dc:title>
  <dc:subject>PptxGenJS Presentation</dc:subject>
  <dc:creator>Etudiant ML</dc:creator>
  <cp:lastModifiedBy>Etudiant ML</cp:lastModifiedBy>
  <cp:revision>1</cp:revision>
  <dcterms:created xsi:type="dcterms:W3CDTF">2026-04-12T19:23:54Z</dcterms:created>
  <dcterms:modified xsi:type="dcterms:W3CDTF">2026-04-12T19:23:54Z</dcterms:modified>
</cp:coreProperties>
</file>